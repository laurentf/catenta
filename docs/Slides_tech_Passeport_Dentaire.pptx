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d'ensemble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hub orchestrateur, trois tokens, un stockage hybride on-chain / off-chain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394960" y="384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</a:t>
            </a:r>
            <a:pPr algn="r" indent="0" marL="0">
              <a:buNone/>
            </a:pPr>
            <a:r>
              <a:rPr lang="en-US" sz="1100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5 — ARCHITECTURE TECHNIQUE</a:t>
            </a:r>
            <a:endParaRPr lang="en-US" sz="1100" dirty="0"/>
          </a:p>
        </p:txBody>
      </p:sp>
      <p:pic>
        <p:nvPicPr>
          <p:cNvPr id="5" name="Image 0" descr="/home/claude/build/dental/arc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25880"/>
            <a:ext cx="7589520" cy="33467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718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 · C8  ·  Hub orchestrateur  ·  3 standards ERC  ·  IPFS + off-chain RGPD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standards de tokens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standards ERC, chacun porteur d'une fonctionnalité métier réelle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394960" y="384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</a:t>
            </a:r>
            <a:pPr algn="r" indent="0" marL="0">
              <a:buNone/>
            </a:pPr>
            <a:r>
              <a:rPr lang="en-US" sz="1100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5 — ARCHITECTURE TECHNIQUE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77640" cy="3200400"/>
          </a:xfrm>
          <a:prstGeom prst="roundRect">
            <a:avLst>
              <a:gd name="adj" fmla="val 2857"/>
            </a:avLst>
          </a:prstGeom>
          <a:solidFill>
            <a:srgbClr val="F2F4F6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609344"/>
            <a:ext cx="457200" cy="457200"/>
          </a:xfrm>
          <a:prstGeom prst="ellipse">
            <a:avLst/>
          </a:prstGeom>
          <a:solidFill>
            <a:srgbClr val="0F2540"/>
          </a:solidFill>
          <a:ln/>
        </p:spPr>
      </p:sp>
      <p:pic>
        <p:nvPicPr>
          <p:cNvPr id="7" name="Image 0" descr="/home/claude/build/dental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70992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162763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3 STANDARDS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31520" y="2267712"/>
            <a:ext cx="34472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ERC-721 soulbound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passeport prothèse : 1 token = 1 dispositif, transfert verrouillé (override _update).</a:t>
            </a:r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ERC-1155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lots de matériaux : semi-fongible par lot, brûlé à la fabrication.</a:t>
            </a:r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ERC-20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caution qualité : le labo stake, slashé en cas de rappel de lot.</a:t>
            </a:r>
            <a:pPr indent="0" marL="0">
              <a:lnSpc>
                <a:spcPct val="105000"/>
              </a:lnSpc>
              <a:buNone/>
            </a:pP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09160" y="1371600"/>
            <a:ext cx="3977640" cy="3200400"/>
          </a:xfrm>
          <a:prstGeom prst="roundRect">
            <a:avLst>
              <a:gd name="adj" fmla="val 2857"/>
            </a:avLst>
          </a:prstGeom>
          <a:solidFill>
            <a:srgbClr val="EAFAF5"/>
          </a:solidFill>
          <a:ln/>
        </p:spPr>
      </p:sp>
      <p:sp>
        <p:nvSpPr>
          <p:cNvPr id="11" name="Shape 8"/>
          <p:cNvSpPr/>
          <p:nvPr/>
        </p:nvSpPr>
        <p:spPr>
          <a:xfrm>
            <a:off x="4965192" y="1609344"/>
            <a:ext cx="457200" cy="457200"/>
          </a:xfrm>
          <a:prstGeom prst="ellipse">
            <a:avLst/>
          </a:prstGeom>
          <a:solidFill>
            <a:srgbClr val="27BDAD"/>
          </a:solidFill>
          <a:ln/>
        </p:spPr>
      </p:sp>
      <p:pic>
        <p:nvPicPr>
          <p:cNvPr id="12" name="Image 1" descr="/home/claude/build/dental/icons/aw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776" y="170992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50408" y="162763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CES CHOIX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983480" y="2267712"/>
            <a:ext cx="34472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OpenZeppelin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librairies auditées, standard attendu du référentiel (C3).</a:t>
            </a:r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Soulbound justifié :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dispositif médical est lié au patient, pas un actif spéculatif.</a:t>
            </a:r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ERC-1155 plutôt que 721 :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lots sont des quantités fongibles, un id par lot.</a:t>
            </a:r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token décoratif :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standard rend effective une fonctionnalité.</a:t>
            </a:r>
            <a:pPr indent="0" marL="0">
              <a:lnSpc>
                <a:spcPct val="105000"/>
              </a:lnSpc>
              <a:buNone/>
            </a:pP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343400" y="2670048"/>
            <a:ext cx="457200" cy="457200"/>
          </a:xfrm>
          <a:prstGeom prst="ellipse">
            <a:avLst/>
          </a:prstGeom>
          <a:solidFill>
            <a:srgbClr val="0F766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343400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457200" y="4718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  ·  ERC-721  ·  ERC-1155  ·  ERC-20  ·  OpenZeppelin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de vie &amp; rôles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machine à états déterministe, gouvernée par un contrôle d'accès granulaire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394960" y="384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</a:t>
            </a:r>
            <a:pPr algn="r" indent="0" marL="0">
              <a:buNone/>
            </a:pPr>
            <a:r>
              <a:rPr lang="en-US" sz="1100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5 — ARCHITECTURE TECHNIQUE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77640" cy="3200400"/>
          </a:xfrm>
          <a:prstGeom prst="roundRect">
            <a:avLst>
              <a:gd name="adj" fmla="val 2857"/>
            </a:avLst>
          </a:prstGeom>
          <a:solidFill>
            <a:srgbClr val="F2F4F6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609344"/>
            <a:ext cx="457200" cy="457200"/>
          </a:xfrm>
          <a:prstGeom prst="ellipse">
            <a:avLst/>
          </a:prstGeom>
          <a:solidFill>
            <a:srgbClr val="0F2540"/>
          </a:solidFill>
          <a:ln/>
        </p:spPr>
      </p:sp>
      <p:pic>
        <p:nvPicPr>
          <p:cNvPr id="7" name="Image 0" descr="/home/claude/build/dental/icons/refresh-c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70992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162763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DE VIE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31520" y="2267712"/>
            <a:ext cx="34472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Fabriqué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 du passeport par le labo, lots ERC-1155 consommés (burn).</a:t>
            </a:r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Conforme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 conformité validé par le praticien.</a:t>
            </a:r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Posé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bouche : le passeport se verrouille (soulbound).</a:t>
            </a:r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Rappelé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 défectueux : notification + slashing de la caution.</a:t>
            </a:r>
            <a:pPr indent="0" marL="0">
              <a:lnSpc>
                <a:spcPct val="105000"/>
              </a:lnSpc>
              <a:buNone/>
            </a:pP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09160" y="1371600"/>
            <a:ext cx="3977640" cy="3200400"/>
          </a:xfrm>
          <a:prstGeom prst="roundRect">
            <a:avLst>
              <a:gd name="adj" fmla="val 2857"/>
            </a:avLst>
          </a:prstGeom>
          <a:solidFill>
            <a:srgbClr val="EAFAF5"/>
          </a:solidFill>
          <a:ln/>
        </p:spPr>
      </p:sp>
      <p:sp>
        <p:nvSpPr>
          <p:cNvPr id="11" name="Shape 8"/>
          <p:cNvSpPr/>
          <p:nvPr/>
        </p:nvSpPr>
        <p:spPr>
          <a:xfrm>
            <a:off x="4965192" y="1609344"/>
            <a:ext cx="457200" cy="457200"/>
          </a:xfrm>
          <a:prstGeom prst="ellipse">
            <a:avLst/>
          </a:prstGeom>
          <a:solidFill>
            <a:srgbClr val="27BDAD"/>
          </a:solidFill>
          <a:ln/>
        </p:spPr>
      </p:sp>
      <p:pic>
        <p:nvPicPr>
          <p:cNvPr id="12" name="Image 1" descr="/home/claude/build/dental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776" y="170992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50408" y="162763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MULTI-ACTEURS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983480" y="2267712"/>
            <a:ext cx="34472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Laboratoire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mint, déclaration des lots de matériaux.</a:t>
            </a:r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Praticien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conformité, pose, signalement d'incident.</a:t>
            </a:r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Distributeur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relai d'alerte fabricant → cabinets.</a:t>
            </a:r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Ordre / ARS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totale, suspension coordonnée.</a:t>
            </a:r>
            <a:pPr indent="0" marL="0">
              <a:lnSpc>
                <a:spcPct val="105000"/>
              </a:lnSpc>
              <a:buNone/>
            </a:pP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343400" y="2670048"/>
            <a:ext cx="457200" cy="457200"/>
          </a:xfrm>
          <a:prstGeom prst="ellipse">
            <a:avLst/>
          </a:prstGeom>
          <a:solidFill>
            <a:srgbClr val="0F766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343400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457200" y="4718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 · C4  ·  Machine à états  ·  AccessControl  ·  Rappel national instantané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&amp; attaques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surface d'attaque identifiée, et les parades associées (livrable C4)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394960" y="384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</a:t>
            </a:r>
            <a:pPr algn="r" indent="0" marL="0">
              <a:buNone/>
            </a:pPr>
            <a:r>
              <a:rPr lang="en-US" sz="1100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5 — ARCHITECTURE TECHNIQUE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77640" cy="3200400"/>
          </a:xfrm>
          <a:prstGeom prst="roundRect">
            <a:avLst>
              <a:gd name="adj" fmla="val 2857"/>
            </a:avLst>
          </a:prstGeom>
          <a:solidFill>
            <a:srgbClr val="F2F4F6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609344"/>
            <a:ext cx="457200" cy="457200"/>
          </a:xfrm>
          <a:prstGeom prst="ellipse">
            <a:avLst/>
          </a:prstGeom>
          <a:solidFill>
            <a:srgbClr val="0F2540"/>
          </a:solidFill>
          <a:ln/>
        </p:spPr>
      </p:sp>
      <p:pic>
        <p:nvPicPr>
          <p:cNvPr id="7" name="Image 0" descr="/home/claude/build/dental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70992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162763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D'ATTAQUE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31520" y="2267712"/>
            <a:ext cx="34472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 :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seul le hub mute l'état ; rôles strictement cloisonnés.</a:t>
            </a:r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Slashing :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droit de slasher, griefing, reentrancy au retrait de la caution.</a:t>
            </a:r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physique↔numérique :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attestation co-signée au handoff.</a:t>
            </a:r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RGPD :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donnée patient on-chain, uniquement des hash.</a:t>
            </a:r>
            <a:pPr indent="0" marL="0">
              <a:lnSpc>
                <a:spcPct val="105000"/>
              </a:lnSpc>
              <a:buNone/>
            </a:pP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09160" y="1371600"/>
            <a:ext cx="3977640" cy="3200400"/>
          </a:xfrm>
          <a:prstGeom prst="roundRect">
            <a:avLst>
              <a:gd name="adj" fmla="val 2857"/>
            </a:avLst>
          </a:prstGeom>
          <a:solidFill>
            <a:srgbClr val="EAFAF5"/>
          </a:solidFill>
          <a:ln/>
        </p:spPr>
      </p:sp>
      <p:sp>
        <p:nvSpPr>
          <p:cNvPr id="11" name="Shape 8"/>
          <p:cNvSpPr/>
          <p:nvPr/>
        </p:nvSpPr>
        <p:spPr>
          <a:xfrm>
            <a:off x="4965192" y="1609344"/>
            <a:ext cx="457200" cy="457200"/>
          </a:xfrm>
          <a:prstGeom prst="ellipse">
            <a:avLst/>
          </a:prstGeom>
          <a:solidFill>
            <a:srgbClr val="27BDAD"/>
          </a:solidFill>
          <a:ln/>
        </p:spPr>
      </p:sp>
      <p:pic>
        <p:nvPicPr>
          <p:cNvPr id="12" name="Image 1" descr="/home/claude/build/dental/icons/alert-triang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776" y="170992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50408" y="162763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PARADES &amp; OUTILS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983480" y="2267712"/>
            <a:ext cx="34472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CEI + ReentrancyGuard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tous les flux de caution.</a:t>
            </a:r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Pausable :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d'urgence sur mint et rappel.</a:t>
            </a:r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des attaques connues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mappé à l'application (exigé).</a:t>
            </a:r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Slither + Echidna :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statique et fuzzing d'invariants.</a:t>
            </a:r>
            <a:pPr indent="0" marL="0">
              <a:lnSpc>
                <a:spcPct val="105000"/>
              </a:lnSpc>
              <a:buNone/>
            </a:pP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343400" y="2670048"/>
            <a:ext cx="457200" cy="457200"/>
          </a:xfrm>
          <a:prstGeom prst="ellipse">
            <a:avLst/>
          </a:prstGeom>
          <a:solidFill>
            <a:srgbClr val="0F766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343400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457200" y="4718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  ·  Reentrancy  ·  Access control  ·  Oracle  ·  RGPD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Tests, CI &amp; déploiement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pipeline qui garantit la viabilité du développement dans le temps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394960" y="384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</a:t>
            </a:r>
            <a:pPr algn="r" indent="0" marL="0">
              <a:buNone/>
            </a:pPr>
            <a:r>
              <a:rPr lang="en-US" sz="1100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5 — ARCHITECTURE TECHNIQUE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77640" cy="3200400"/>
          </a:xfrm>
          <a:prstGeom prst="roundRect">
            <a:avLst>
              <a:gd name="adj" fmla="val 2857"/>
            </a:avLst>
          </a:prstGeom>
          <a:solidFill>
            <a:srgbClr val="F2F4F6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609344"/>
            <a:ext cx="457200" cy="457200"/>
          </a:xfrm>
          <a:prstGeom prst="ellipse">
            <a:avLst/>
          </a:prstGeom>
          <a:solidFill>
            <a:srgbClr val="0F2540"/>
          </a:solidFill>
          <a:ln/>
        </p:spPr>
      </p:sp>
      <p:pic>
        <p:nvPicPr>
          <p:cNvPr id="7" name="Image 0" descr="/home/claude/build/dental/icons/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70992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162763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&amp; QUALITÉ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31520" y="2267712"/>
            <a:ext cx="34472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Hardhat 3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unitaires + intégration (viem).</a:t>
            </a:r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Couverture &gt; 80 % (C6) :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logique déterministe, branches finies.</a:t>
            </a:r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Helpers temps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(time.increase) pour les transitions d'état.</a:t>
            </a:r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Slither + Echidna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intégrés au pipeline.</a:t>
            </a:r>
            <a:pPr indent="0" marL="0">
              <a:lnSpc>
                <a:spcPct val="105000"/>
              </a:lnSpc>
              <a:buNone/>
            </a:pP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09160" y="1371600"/>
            <a:ext cx="3977640" cy="3200400"/>
          </a:xfrm>
          <a:prstGeom prst="roundRect">
            <a:avLst>
              <a:gd name="adj" fmla="val 2857"/>
            </a:avLst>
          </a:prstGeom>
          <a:solidFill>
            <a:srgbClr val="EAFAF5"/>
          </a:solidFill>
          <a:ln/>
        </p:spPr>
      </p:sp>
      <p:sp>
        <p:nvSpPr>
          <p:cNvPr id="11" name="Shape 8"/>
          <p:cNvSpPr/>
          <p:nvPr/>
        </p:nvSpPr>
        <p:spPr>
          <a:xfrm>
            <a:off x="4965192" y="1609344"/>
            <a:ext cx="457200" cy="457200"/>
          </a:xfrm>
          <a:prstGeom prst="ellipse">
            <a:avLst/>
          </a:prstGeom>
          <a:solidFill>
            <a:srgbClr val="27BDAD"/>
          </a:solidFill>
          <a:ln/>
        </p:spPr>
      </p:sp>
      <p:pic>
        <p:nvPicPr>
          <p:cNvPr id="12" name="Image 1" descr="/home/claude/build/dental/icons/upload-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776" y="170992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50408" y="162763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CI, FRONT &amp; DÉPLOIEMENT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983480" y="2267712"/>
            <a:ext cx="34472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(GitHub Actions)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lint, tests, coverage à chaque push (C5).</a:t>
            </a:r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de consultation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droits différenciés par rôle (C7).</a:t>
            </a:r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 Sepolia —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Hardhat, vérification Etherscan (C8).</a:t>
            </a:r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 plugin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logiciels métier (Julie, Logos).</a:t>
            </a:r>
            <a:pPr indent="0" marL="0">
              <a:lnSpc>
                <a:spcPct val="105000"/>
              </a:lnSpc>
              <a:buNone/>
            </a:pP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343400" y="2670048"/>
            <a:ext cx="457200" cy="457200"/>
          </a:xfrm>
          <a:prstGeom prst="ellipse">
            <a:avLst/>
          </a:prstGeom>
          <a:solidFill>
            <a:srgbClr val="0F766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343400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457200" y="4718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C5 · C6 · C7 · C8  ·  Hardhat 3  ·  CI/CD  ·  Sepolia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Passeport Dentaire On-Chain — Architecture technique</dc:title>
  <dc:subject>PptxGenJS Presentation</dc:subject>
  <dc:creator>Kebal</dc:creator>
  <cp:lastModifiedBy>Kebal</cp:lastModifiedBy>
  <cp:revision>1</cp:revision>
  <dcterms:created xsi:type="dcterms:W3CDTF">2026-07-06T09:54:13Z</dcterms:created>
  <dcterms:modified xsi:type="dcterms:W3CDTF">2026-07-06T09:54:13Z</dcterms:modified>
</cp:coreProperties>
</file>